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06543" y="1074420"/>
            <a:ext cx="2578608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563" y="1234440"/>
            <a:ext cx="2258568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356616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ANALYSE STRATÉGIQUE E-COMMERCE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51960"/>
            <a:ext cx="9445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D9D9D9"/>
                </a:solidFill>
                <a:latin typeface="Calibri"/>
              </a:rPr>
              <a:t>Performance commerciale · Juillet – Décembre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035040"/>
            <a:ext cx="94457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Présenté à la Direction  ·  Data Analyst — AfriMarket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6211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32004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F3F3F"/>
                </a:solidFill>
                <a:latin typeface="Calibri"/>
              </a:rPr>
              <a:t>Sommaire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926080" cy="2794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C8C8C"/>
                </a:solidFill>
                <a:latin typeface="Calibri"/>
              </a:rPr>
              <a:t>AfriMarket — Analyse strategique 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2D1C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57276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F3F3F"/>
                </a:solidFill>
                <a:latin typeface="Calibri"/>
              </a:rPr>
              <a:t>Contexte &amp; objectifs de l'analyse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402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2D1C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5856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F3F3F"/>
                </a:solidFill>
                <a:latin typeface="Calibri"/>
              </a:rPr>
              <a:t>Méthodologie : audit et nettoyage des données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260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2D1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94436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F3F3F"/>
                </a:solidFill>
                <a:latin typeface="Calibri"/>
              </a:rPr>
              <a:t>Indicateurs clés de performance (KPIs)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118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2D1C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3016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F3F3F"/>
                </a:solidFill>
                <a:latin typeface="Calibri"/>
              </a:rPr>
              <a:t>Analyse par catégorie de produits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976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2D1C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31596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F3F3F"/>
                </a:solidFill>
                <a:latin typeface="Calibri"/>
              </a:rPr>
              <a:t>Analyse géographique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5544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2D1C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57276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F3F3F"/>
                </a:solidFill>
                <a:latin typeface="Calibri"/>
              </a:rPr>
              <a:t>Analyse marketing (ROI par canal)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2402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2D1C"/>
                </a:solidFill>
                <a:latin typeface="Calibr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25856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F3F3F"/>
                </a:solidFill>
                <a:latin typeface="Calibri"/>
              </a:rPr>
              <a:t>Analyse clients &amp; rétention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9260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2D1C"/>
                </a:solidFill>
                <a:latin typeface="Calibri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94436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F3F3F"/>
                </a:solidFill>
                <a:latin typeface="Calibri"/>
              </a:rPr>
              <a:t>Synthèse des insights clés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6118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2D1C"/>
                </a:solidFill>
                <a:latin typeface="Calibri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63016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F3F3F"/>
                </a:solidFill>
                <a:latin typeface="Calibri"/>
              </a:rPr>
              <a:t>5 recommandations stratégiques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2976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2D1C"/>
                </a:solidFill>
                <a:latin typeface="Calibri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31596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F3F3F"/>
                </a:solidFill>
                <a:latin typeface="Calibri"/>
              </a:rPr>
              <a:t>Conclusion &amp; prochaines étapes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6211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2D1C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5488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F3F3F"/>
                </a:solidFill>
                <a:latin typeface="Calibri"/>
              </a:rPr>
              <a:t>Contexte &amp; objectifs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2926080" cy="2794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C8C8C"/>
                </a:solidFill>
                <a:latin typeface="Calibri"/>
              </a:rPr>
              <a:t>AfriMarket — Analyse strategique e-commerce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3F3F3F"/>
                </a:solidFill>
                <a:latin typeface="Calibri"/>
              </a:rPr>
              <a:t>AfriMarket est une entreprise e-commerce panafricaine active dans 8 villes et 4 catégories (Électronique, Mode, Beauté, Maison). La direction constate des variations de chiffre d'affaires, un taux de retour préoccupant et des écarts de performance selon les villes.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3F3F3F"/>
                </a:solidFill>
                <a:latin typeface="Calibri"/>
              </a:rPr>
              <a:t>●  Période analysée : 6 mois d'activité commerciale (juillet – décembre 2025)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3F3F3F"/>
                </a:solidFill>
                <a:latin typeface="Calibri"/>
              </a:rPr>
              <a:t>●  9 400 commandes exploitables après nettoyage (sur 10 100 lignes brutes)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3F3F3F"/>
                </a:solidFill>
                <a:latin typeface="Calibri"/>
              </a:rPr>
              <a:t>●  Objectif : identifier les leviers de rentabilité et fournir des recommandations actionnables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6211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2D1C"/>
                </a:solidFill>
                <a:latin typeface="Calibri"/>
              </a:rPr>
              <a:t>QUALITÉ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5488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F3F3F"/>
                </a:solidFill>
                <a:latin typeface="Calibri"/>
              </a:rPr>
              <a:t>Méthodologie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2926080" cy="2794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C8C8C"/>
                </a:solidFill>
                <a:latin typeface="Calibri"/>
              </a:rPr>
              <a:t>AfriMarket — Analyse strategique e-commerce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338328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42D1C"/>
                </a:solidFill>
                <a:latin typeface="Calibri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031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F3F3F"/>
                </a:solidFill>
                <a:latin typeface="Calibri"/>
              </a:rPr>
              <a:t>doublons exacts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048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8C8C8C"/>
                </a:solidFill>
                <a:latin typeface="Calibri"/>
              </a:rPr>
              <a:t>supprimés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417320"/>
            <a:ext cx="338328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0876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42D1C"/>
                </a:solidFill>
                <a:latin typeface="Calibri"/>
              </a:rPr>
              <a:t>622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031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F3F3F"/>
                </a:solidFill>
                <a:latin typeface="Calibri"/>
              </a:rPr>
              <a:t>prix invalides (≤0)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4048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8C8C8C"/>
                </a:solidFill>
                <a:latin typeface="Calibri"/>
              </a:rPr>
              <a:t>imputés (médiane categorie)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1417320"/>
            <a:ext cx="338328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50876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42D1C"/>
                </a:solidFill>
                <a:latin typeface="Calibri"/>
              </a:rPr>
              <a:t>600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1031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F3F3F"/>
                </a:solidFill>
                <a:latin typeface="Calibri"/>
              </a:rPr>
              <a:t>remises négatives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4048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8C8C8C"/>
                </a:solidFill>
                <a:latin typeface="Calibri"/>
              </a:rPr>
              <a:t>corrigées (valeur absolue)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017520"/>
            <a:ext cx="338328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10896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42D1C"/>
                </a:solidFill>
                <a:latin typeface="Calibri"/>
              </a:rPr>
              <a:t>600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7033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F3F3F"/>
                </a:solidFill>
                <a:latin typeface="Calibri"/>
              </a:rPr>
              <a:t>quantités nulles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0050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8C8C8C"/>
                </a:solidFill>
                <a:latin typeface="Calibri"/>
              </a:rPr>
              <a:t>supprimées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017520"/>
            <a:ext cx="338328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310896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42D1C"/>
                </a:solidFill>
                <a:latin typeface="Calibri"/>
              </a:rPr>
              <a:t>605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7033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F3F3F"/>
                </a:solidFill>
                <a:latin typeface="Calibri"/>
              </a:rPr>
              <a:t>villes mal orthographiées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0050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8C8C8C"/>
                </a:solidFill>
                <a:latin typeface="Calibri"/>
              </a:rPr>
              <a:t>corrigées (Kinshassa → Kinshasa)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0" y="3017520"/>
            <a:ext cx="338328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310896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42D1C"/>
                </a:solidFill>
                <a:latin typeface="Calibri"/>
              </a:rPr>
              <a:t>606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7033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F3F3F"/>
                </a:solidFill>
                <a:latin typeface="Calibri"/>
              </a:rPr>
              <a:t>catégories incohérentes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0050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8C8C8C"/>
                </a:solidFill>
                <a:latin typeface="Calibri"/>
              </a:rPr>
              <a:t>fusionnées (electronique → Électronique)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6211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2D1C"/>
                </a:solidFill>
                <a:latin typeface="Calibri"/>
              </a:rPr>
              <a:t>INDICATEURS CLÉS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5488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F3F3F"/>
                </a:solidFill>
                <a:latin typeface="Calibri"/>
              </a:rPr>
              <a:t>Performance globale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2926080" cy="2794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C8C8C"/>
                </a:solidFill>
                <a:latin typeface="Calibri"/>
              </a:rPr>
              <a:t>AfriMarket — Analyse strategique e-commerce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342900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54864" cy="155448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75564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CA 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0312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F3F3F"/>
                </a:solidFill>
                <a:latin typeface="Calibri"/>
              </a:rPr>
              <a:t>2.51 M$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45920"/>
            <a:ext cx="342900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645920"/>
            <a:ext cx="54864" cy="155448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75564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PROFIT NET ESTIMÉ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10312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F3F3F"/>
                </a:solidFill>
                <a:latin typeface="Calibri"/>
              </a:rPr>
              <a:t>410 k$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645920"/>
            <a:ext cx="342900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645920"/>
            <a:ext cx="54864" cy="155448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75564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PANIER MOYEN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10312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F3F3F"/>
                </a:solidFill>
                <a:latin typeface="Calibri"/>
              </a:rPr>
              <a:t>272 $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429000"/>
            <a:ext cx="342900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429000"/>
            <a:ext cx="54864" cy="155448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53872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TAUX D'ANNULATION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8620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F3F3F"/>
                </a:solidFill>
                <a:latin typeface="Calibri"/>
              </a:rPr>
              <a:t>1.9 %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429000"/>
            <a:ext cx="342900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3429000"/>
            <a:ext cx="54864" cy="155448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53872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TAUX DE RETOUR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88620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F3F3F"/>
                </a:solidFill>
                <a:latin typeface="Calibri"/>
              </a:rPr>
              <a:t>8.1 %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3429000"/>
            <a:ext cx="342900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3429000"/>
            <a:ext cx="54864" cy="155448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353872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CLIENTS ACTIFS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88620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F3F3F"/>
                </a:solidFill>
                <a:latin typeface="Calibri"/>
              </a:rPr>
              <a:t>1,747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12064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C8C8C"/>
                </a:solidFill>
                <a:latin typeface="Calibri"/>
              </a:rPr>
              <a:t>Le CA mensuel oscille entre 400k$ et 460k$ sans tendance de croissance nette : l'instabilité constatée par la direction s'explique par les écarts entre catégories et villes (slides suivantes).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6211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2D1C"/>
                </a:solidFill>
                <a:latin typeface="Calibri"/>
              </a:rPr>
              <a:t>QUELLE CATÉGORIE PRIORISER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5488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F3F3F"/>
                </a:solidFill>
                <a:latin typeface="Calibri"/>
              </a:rPr>
              <a:t>Performance par catégorie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2926080" cy="2794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C8C8C"/>
                </a:solidFill>
                <a:latin typeface="Calibri"/>
              </a:rPr>
              <a:t>AfriMarket — Analyse strategique e-commerce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6</a:t>
            </a:r>
          </a:p>
        </p:txBody>
      </p:sp>
      <p:pic>
        <p:nvPicPr>
          <p:cNvPr id="10" name="Picture 9" descr="01_ca_categor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64208"/>
            <a:ext cx="5577840" cy="3346704"/>
          </a:xfrm>
          <a:prstGeom prst="rect">
            <a:avLst/>
          </a:prstGeom>
        </p:spPr>
      </p:pic>
      <p:pic>
        <p:nvPicPr>
          <p:cNvPr id="11" name="Picture 10" descr="02_retour_categor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664208"/>
            <a:ext cx="5577840" cy="334670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5486400"/>
            <a:ext cx="11274552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6235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F3F3F"/>
                </a:solidFill>
                <a:latin typeface="Calibri"/>
              </a:rPr>
              <a:t>Électronique = 74,6 % du CA mais marge la plus faible (15 %) et taux de retour le plus élevé (13,8 %). Mode et Beauté (marges 45-50 %) sont sous-exploitées : elles ne pèsent que 10,4 % du 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6211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2D1C"/>
                </a:solidFill>
                <a:latin typeface="Calibri"/>
              </a:rPr>
              <a:t>TENDANCES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5488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F3F3F"/>
                </a:solidFill>
                <a:latin typeface="Calibri"/>
              </a:rPr>
              <a:t>Évolution mensuelle du CA par catégorie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2926080" cy="2794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C8C8C"/>
                </a:solidFill>
                <a:latin typeface="Calibri"/>
              </a:rPr>
              <a:t>AfriMarket — Analyse strategique e-commerce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7</a:t>
            </a:r>
          </a:p>
        </p:txBody>
      </p:sp>
      <p:pic>
        <p:nvPicPr>
          <p:cNvPr id="10" name="Picture 9" descr="03_evolution_categor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1371600"/>
            <a:ext cx="841248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C8C8C"/>
                </a:solidFill>
                <a:latin typeface="Calibri"/>
              </a:rPr>
              <a:t>L'Électronique tire l'essentiel de la variabilité mensuelle du CA global — sa stabilisation est la priorité n°1.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6211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2D1C"/>
                </a:solidFill>
                <a:latin typeface="Calibri"/>
              </a:rPr>
              <a:t>OÙ INVESTIR DAVANTAGE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5488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F3F3F"/>
                </a:solidFill>
                <a:latin typeface="Calibri"/>
              </a:rPr>
              <a:t>Performance géographique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2926080" cy="2794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C8C8C"/>
                </a:solidFill>
                <a:latin typeface="Calibri"/>
              </a:rPr>
              <a:t>AfriMarket — Analyse strategique e-commerce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8</a:t>
            </a:r>
          </a:p>
        </p:txBody>
      </p:sp>
      <p:pic>
        <p:nvPicPr>
          <p:cNvPr id="10" name="Picture 9" descr="04_ca_vil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36914"/>
            <a:ext cx="5577840" cy="3984171"/>
          </a:xfrm>
          <a:prstGeom prst="rect">
            <a:avLst/>
          </a:prstGeom>
        </p:spPr>
      </p:pic>
      <p:pic>
        <p:nvPicPr>
          <p:cNvPr id="11" name="Picture 10" descr="05_annulation_vil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867205"/>
            <a:ext cx="5577840" cy="312359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5623560"/>
            <a:ext cx="11274552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7607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F3F3F"/>
                </a:solidFill>
                <a:latin typeface="Calibri"/>
              </a:rPr>
              <a:t>Douala : plus forte croissance (+76 %) mais taux d'annulation de 12,9 % (vs 0-1 % ailleurs) — un problème opérationnel local à résoudre avant d'investir davantage.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6211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2D1C"/>
                </a:solidFill>
                <a:latin typeface="Calibri"/>
              </a:rPr>
              <a:t>QUEL CANAL MÉRITE PLUS DE BUDGET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5488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F3F3F"/>
                </a:solidFill>
                <a:latin typeface="Calibri"/>
              </a:rPr>
              <a:t>Performance marketing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2926080" cy="2794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C8C8C"/>
                </a:solidFill>
                <a:latin typeface="Calibri"/>
              </a:rPr>
              <a:t>AfriMarket — Analyse strategique e-commerce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9</a:t>
            </a:r>
          </a:p>
        </p:txBody>
      </p:sp>
      <p:pic>
        <p:nvPicPr>
          <p:cNvPr id="10" name="Picture 9" descr="06_roi_marke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17320"/>
            <a:ext cx="685800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03920" y="17373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300">
                <a:solidFill>
                  <a:srgbClr val="3F3F3F"/>
                </a:solidFill>
                <a:latin typeface="Calibri"/>
              </a:rPr>
              <a:t>●  Email : ROI 231x — sous-investi, à scaler</a:t>
            </a:r>
          </a:p>
          <a:p>
            <a:pPr>
              <a:spcAft>
                <a:spcPts val="1600"/>
              </a:spcAft>
            </a:pPr>
            <a:r>
              <a:rPr sz="1300">
                <a:solidFill>
                  <a:srgbClr val="3F3F3F"/>
                </a:solidFill>
                <a:latin typeface="Calibri"/>
              </a:rPr>
              <a:t>●  Instagram Ads : meilleure rétention (54%), à maintenir</a:t>
            </a:r>
          </a:p>
          <a:p>
            <a:pPr>
              <a:spcAft>
                <a:spcPts val="1600"/>
              </a:spcAft>
            </a:pPr>
            <a:r>
              <a:rPr sz="1300">
                <a:solidFill>
                  <a:srgbClr val="3F3F3F"/>
                </a:solidFill>
                <a:latin typeface="Calibri"/>
              </a:rPr>
              <a:t>●  Influenceur : ROI le plus faible (21,6x) — à réduire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6211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2D1C"/>
                </a:solidFill>
                <a:latin typeface="Calibri"/>
              </a:rPr>
              <a:t>COMMENT AMÉLIORER LA RÉTENTION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5488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F3F3F"/>
                </a:solidFill>
                <a:latin typeface="Calibri"/>
              </a:rPr>
              <a:t>Analyse clients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2926080" cy="2794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C8C8C"/>
                </a:solidFill>
                <a:latin typeface="Calibri"/>
              </a:rPr>
              <a:t>AfriMarket — Analyse strategique e-commerce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10</a:t>
            </a:r>
          </a:p>
        </p:txBody>
      </p:sp>
      <p:pic>
        <p:nvPicPr>
          <p:cNvPr id="10" name="Picture 9" descr="07_pareto_cl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73352"/>
            <a:ext cx="5852160" cy="3511296"/>
          </a:xfrm>
          <a:prstGeom prst="rect">
            <a:avLst/>
          </a:prstGeom>
        </p:spPr>
      </p:pic>
      <p:pic>
        <p:nvPicPr>
          <p:cNvPr id="11" name="Picture 10" descr="08_segmentation_cli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371600"/>
            <a:ext cx="4114800" cy="4114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5623560"/>
            <a:ext cx="11274552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7607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F3F3F"/>
                </a:solidFill>
                <a:latin typeface="Calibri"/>
              </a:rPr>
              <a:t>74 % de clients récurrents, mais 32 % des clients génèrent 80 % du CA. Le segment 'nouveaux clients' (26 %) est le principal levier de rétention.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6211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2D1C"/>
                </a:solidFill>
                <a:latin typeface="Calibri"/>
              </a:rPr>
              <a:t>CE QU'IL FAUT RETENIR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5488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F3F3F"/>
                </a:solidFill>
                <a:latin typeface="Calibri"/>
              </a:rPr>
              <a:t>Synthèse des insights clés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2926080" cy="2794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C8C8C"/>
                </a:solidFill>
                <a:latin typeface="Calibri"/>
              </a:rPr>
              <a:t>AfriMarket — Analyse strategique e-commerce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1700">
                <a:solidFill>
                  <a:srgbClr val="3F3F3F"/>
                </a:solidFill>
                <a:latin typeface="Calibri"/>
              </a:rPr>
              <a:t>●  Électronique = 74,6 % du CA mais marge la plus faible et taux de retour le plus élevé</a:t>
            </a:r>
          </a:p>
          <a:p>
            <a:pPr>
              <a:spcAft>
                <a:spcPts val="2200"/>
              </a:spcAft>
            </a:pPr>
            <a:r>
              <a:rPr sz="1700">
                <a:solidFill>
                  <a:srgbClr val="3F3F3F"/>
                </a:solidFill>
                <a:latin typeface="Calibri"/>
              </a:rPr>
              <a:t>●  Douala : plus forte croissance ET plus fort taux d'annulation — signal d'alerte opérationnel</a:t>
            </a:r>
          </a:p>
          <a:p>
            <a:pPr>
              <a:spcAft>
                <a:spcPts val="2200"/>
              </a:spcAft>
            </a:pPr>
            <a:r>
              <a:rPr sz="1700">
                <a:solidFill>
                  <a:srgbClr val="3F3F3F"/>
                </a:solidFill>
                <a:latin typeface="Calibri"/>
              </a:rPr>
              <a:t>●  Email : meilleur ROI marketing (231x) mais largement sous-financé</a:t>
            </a:r>
          </a:p>
          <a:p>
            <a:pPr>
              <a:spcAft>
                <a:spcPts val="2200"/>
              </a:spcAft>
            </a:pPr>
            <a:r>
              <a:rPr sz="1700">
                <a:solidFill>
                  <a:srgbClr val="3F3F3F"/>
                </a:solidFill>
                <a:latin typeface="Calibri"/>
              </a:rPr>
              <a:t>●  32 % des clients génèrent 80 % du CA ; 26 % n'ont commandé qu'une fois</a:t>
            </a:r>
          </a:p>
          <a:p>
            <a:pPr>
              <a:spcAft>
                <a:spcPts val="2200"/>
              </a:spcAft>
            </a:pPr>
            <a:r>
              <a:rPr sz="1700">
                <a:solidFill>
                  <a:srgbClr val="3F3F3F"/>
                </a:solidFill>
                <a:latin typeface="Calibri"/>
              </a:rPr>
              <a:t>●  Profit net global estimé (~410k$) nettement inférieur au potentiel du CA brut (~2,51M$)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6211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2D1C"/>
                </a:solidFill>
                <a:latin typeface="Calibri"/>
              </a:rPr>
              <a:t>PLAN D'ACTION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5488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F3F3F"/>
                </a:solidFill>
                <a:latin typeface="Calibri"/>
              </a:rPr>
              <a:t>5 recommandations stratégiques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2926080" cy="2794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C8C8C"/>
                </a:solidFill>
                <a:latin typeface="Calibri"/>
              </a:rPr>
              <a:t>AfriMarket — Analyse strategique e-commerce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640080" cy="82296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50876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3F3F3F"/>
                </a:solidFill>
                <a:latin typeface="Calibri"/>
              </a:rPr>
              <a:t>Réduire le taux de retour Électronique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9280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8C8C8C"/>
                </a:solidFill>
                <a:latin typeface="Calibri"/>
              </a:rPr>
              <a:t>Audit qualité produit et fournisseurs (13,8% de retours)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441448"/>
            <a:ext cx="640080" cy="82296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78608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4414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3F3F3F"/>
                </a:solidFill>
                <a:latin typeface="Calibri"/>
              </a:rPr>
              <a:t>Corriger le problème opérationnel à Douala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825496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8C8C8C"/>
                </a:solidFill>
                <a:latin typeface="Calibri"/>
              </a:rPr>
              <a:t>Diagnostiquer la cause du taux d'annulation (12,9%) avant d'investir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74136"/>
            <a:ext cx="640080" cy="82296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11296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374136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3F3F3F"/>
                </a:solidFill>
                <a:latin typeface="Calibri"/>
              </a:rPr>
              <a:t>Réallouer le budget marketing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758184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8C8C8C"/>
                </a:solidFill>
                <a:latin typeface="Calibri"/>
              </a:rPr>
              <a:t>Renforcer Email (ROI 231x), réduire Influenceur (ROI 21,6x)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306824"/>
            <a:ext cx="640080" cy="82296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43984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306824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3F3F3F"/>
                </a:solidFill>
                <a:latin typeface="Calibri"/>
              </a:rPr>
              <a:t>Réactiver les clients à commande unique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90872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8C8C8C"/>
                </a:solidFill>
                <a:latin typeface="Calibri"/>
              </a:rPr>
              <a:t>Campagne Email ciblée J+30 sur Mode/Beauté (26% de la base)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239512"/>
            <a:ext cx="640080" cy="82296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376672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239512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3F3F3F"/>
                </a:solidFill>
                <a:latin typeface="Calibri"/>
              </a:rPr>
              <a:t>Prioriser Mode et Beauté pour la croissance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62356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8C8C8C"/>
                </a:solidFill>
                <a:latin typeface="Calibri"/>
              </a:rPr>
              <a:t>Marges 45-50%, taux de retour &lt;7,5%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6211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42D1C"/>
                </a:solidFill>
                <a:latin typeface="Calibri"/>
              </a:rPr>
              <a:t>ORIENTÉ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5488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F3F3F"/>
                </a:solidFill>
                <a:latin typeface="Calibri"/>
              </a:rPr>
              <a:t>Conclusion &amp; prochaines étapes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2926080" cy="2794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C8C8C"/>
                </a:solidFill>
                <a:latin typeface="Calibri"/>
              </a:rPr>
              <a:t>AfriMarket — Analyse strategique e-commerce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3F3F3F"/>
                </a:solidFill>
                <a:latin typeface="Calibri"/>
              </a:rPr>
              <a:t>AfriMarket dégage un CA solide (2,51 M$ sur 6 mois) mais une rentabilité bridée par sa dépendance à l'Électronique. La priorité immédiate n'est pas de générer plus de CA, mais de protéger et augmenter le profit net.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>
                <a:solidFill>
                  <a:srgbClr val="3F3F3F"/>
                </a:solidFill>
                <a:latin typeface="Calibri"/>
              </a:rPr>
              <a:t>●  Court terme (0-1 mois) : diagnostiquer Douala, lancer la relance Email des clients inactifs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3F3F3F"/>
                </a:solidFill>
                <a:latin typeface="Calibri"/>
              </a:rPr>
              <a:t>●  Moyen terme (1-3 mois) : audit qualité fournisseurs Électronique, rééquilibrage budget marketing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3F3F3F"/>
                </a:solidFill>
                <a:latin typeface="Calibri"/>
              </a:rPr>
              <a:t>●  Long terme (3-6 mois) : accélérer la croissance sur Mode et Beauté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4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88864" y="2034540"/>
            <a:ext cx="2013966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884" y="2194560"/>
            <a:ext cx="1693926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3977639"/>
            <a:ext cx="94457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MERCI DE VOTRE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45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D9D9D9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